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275" r:id="rId4"/>
    <p:sldId id="262" r:id="rId5"/>
    <p:sldId id="272" r:id="rId6"/>
    <p:sldId id="276" r:id="rId7"/>
    <p:sldId id="289" r:id="rId8"/>
    <p:sldId id="261" r:id="rId9"/>
    <p:sldId id="273" r:id="rId10"/>
    <p:sldId id="285" r:id="rId11"/>
    <p:sldId id="286" r:id="rId12"/>
    <p:sldId id="290" r:id="rId13"/>
    <p:sldId id="267" r:id="rId14"/>
    <p:sldId id="282" r:id="rId15"/>
    <p:sldId id="28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rive.google.com/drive/folders/1YrxRwi459zrME5dLAglCm4SXqSA7e1TY?usp=drive_link" TargetMode="External"/><Relationship Id="rId2" Type="http://schemas.openxmlformats.org/officeDocument/2006/relationships/hyperlink" Target="https://drive.google.com/drive/folders/1mmxgxl8Myc00fKl7i-f1vGUVHDZ5voup?usp=drive_link" TargetMode="External"/><Relationship Id="rId1" Type="http://schemas.openxmlformats.org/officeDocument/2006/relationships/hyperlink" Target="https://drive.google.com/drive/folders/1AB45vN-2pSh6lZ1atUp2WsrRTpFOBgLc?usp=drive_lin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180465" y="981710"/>
            <a:ext cx="9946005" cy="1082675"/>
          </a:xfrm>
        </p:spPr>
        <p:txBody>
          <a:bodyPr/>
          <a:p>
            <a:r>
              <a:rPr lang="en-US" altLang="en-US" sz="3200" b="1">
                <a:solidFill>
                  <a:srgbClr val="002060"/>
                </a:solidFill>
              </a:rPr>
              <a:t>Predictive Maintenance for Aircraft Engines -  Hybrid Model</a:t>
            </a:r>
            <a:endParaRPr lang="en-US" altLang="en-US" sz="3200" b="1">
              <a:solidFill>
                <a:srgbClr val="002060"/>
              </a:solidFill>
            </a:endParaRPr>
          </a:p>
        </p:txBody>
      </p:sp>
      <p:sp>
        <p:nvSpPr>
          <p:cNvPr id="3" name="Subtitle 2"/>
          <p:cNvSpPr>
            <a:spLocks noGrp="1"/>
          </p:cNvSpPr>
          <p:nvPr>
            <p:ph type="subTitle" idx="1"/>
          </p:nvPr>
        </p:nvSpPr>
        <p:spPr>
          <a:xfrm>
            <a:off x="2063751" y="2680335"/>
            <a:ext cx="9218083" cy="1752600"/>
          </a:xfrm>
        </p:spPr>
        <p:txBody>
          <a:bodyPr/>
          <a:p>
            <a:r>
              <a:rPr lang="en-US" altLang="en-US" sz="2800"/>
              <a:t>A Proof of Concept with the hybrid approach and Synthetic data</a:t>
            </a:r>
            <a:endParaRPr lang="en-US" altLang="en-US"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002060"/>
                </a:solidFill>
              </a:rPr>
              <a:t>Problem Statment</a:t>
            </a:r>
            <a:endParaRPr lang="en-US" b="1">
              <a:solidFill>
                <a:srgbClr val="002060"/>
              </a:solidFill>
            </a:endParaRPr>
          </a:p>
        </p:txBody>
      </p:sp>
      <p:sp>
        <p:nvSpPr>
          <p:cNvPr id="3" name="Content Placeholder 2"/>
          <p:cNvSpPr>
            <a:spLocks noGrp="1"/>
          </p:cNvSpPr>
          <p:nvPr>
            <p:ph idx="1"/>
          </p:nvPr>
        </p:nvSpPr>
        <p:spPr/>
        <p:txBody>
          <a:bodyPr/>
          <a:p>
            <a:r>
              <a:rPr lang="en-US" altLang="en-US" sz="2800"/>
              <a:t>Traditional models struggle with complex engine sensor patterns, leading to late fault detection and unexpected downtime.</a:t>
            </a:r>
            <a:endParaRPr lang="en-US" altLang="en-US" sz="2800"/>
          </a:p>
          <a:p>
            <a:r>
              <a:rPr lang="en-US" altLang="en-US" sz="2800"/>
              <a:t>Our PoC uses a </a:t>
            </a:r>
            <a:r>
              <a:rPr lang="en-US" altLang="en-US" sz="2800" b="1"/>
              <a:t>Hybrid</a:t>
            </a:r>
            <a:r>
              <a:rPr lang="en-US" altLang="en-US" sz="2800"/>
              <a:t> AI approach with </a:t>
            </a:r>
            <a:r>
              <a:rPr lang="en-US" altLang="en-US" sz="2800" b="1"/>
              <a:t>Chronos + CNN</a:t>
            </a:r>
            <a:r>
              <a:rPr lang="en-US" altLang="en-US" sz="2800"/>
              <a:t> embeddings, achieving &gt;85% accurate predictions for smarter maintenance decisions struggle with complex and dynamic industrial data.</a:t>
            </a:r>
            <a:endParaRPr lang="en-US" alt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3355" y="190500"/>
            <a:ext cx="12018645" cy="838200"/>
          </a:xfrm>
        </p:spPr>
        <p:txBody>
          <a:bodyPr/>
          <a:p>
            <a:r>
              <a:rPr lang="en-US" altLang="en-US" sz="3200" b="1">
                <a:solidFill>
                  <a:srgbClr val="002060"/>
                </a:solidFill>
              </a:rPr>
              <a:t>The Challenge — Cost of Unscheduled Downtime</a:t>
            </a:r>
            <a:endParaRPr lang="en-US" altLang="en-US" sz="3200" b="1">
              <a:solidFill>
                <a:srgbClr val="002060"/>
              </a:solidFill>
            </a:endParaRPr>
          </a:p>
        </p:txBody>
      </p:sp>
      <p:sp>
        <p:nvSpPr>
          <p:cNvPr id="3" name="Content Placeholder 2"/>
          <p:cNvSpPr>
            <a:spLocks noGrp="1"/>
          </p:cNvSpPr>
          <p:nvPr>
            <p:ph idx="1"/>
          </p:nvPr>
        </p:nvSpPr>
        <p:spPr>
          <a:xfrm>
            <a:off x="609600" y="1292225"/>
            <a:ext cx="10972800" cy="4953000"/>
          </a:xfrm>
        </p:spPr>
        <p:txBody>
          <a:bodyPr/>
          <a:p>
            <a:r>
              <a:rPr lang="en-US" altLang="en-US" sz="2400"/>
              <a:t>Aircraft engine health is critical for safety and operations. Traditional schedule-based maintenance often results in:</a:t>
            </a:r>
            <a:endParaRPr lang="en-US" altLang="en-US" sz="2400"/>
          </a:p>
          <a:p>
            <a:r>
              <a:rPr lang="en-US" altLang="en-US" sz="2400" b="1"/>
              <a:t>Unnecessary maintenance</a:t>
            </a:r>
            <a:r>
              <a:rPr lang="en-US" altLang="en-US" sz="2400"/>
              <a:t> — parts replaced on time, not condition</a:t>
            </a:r>
            <a:endParaRPr lang="en-US" altLang="en-US" sz="2400"/>
          </a:p>
          <a:p>
            <a:r>
              <a:rPr lang="en-US" altLang="en-US" sz="2400" b="1"/>
              <a:t>Unexpected failures</a:t>
            </a:r>
            <a:r>
              <a:rPr lang="en-US" altLang="en-US" sz="2400"/>
              <a:t> — faults arise between inspections</a:t>
            </a:r>
            <a:endParaRPr lang="en-US" altLang="en-US" sz="2400"/>
          </a:p>
          <a:p>
            <a:r>
              <a:rPr lang="en-US" altLang="en-US" sz="2400" b="1"/>
              <a:t>High operational cost</a:t>
            </a:r>
            <a:r>
              <a:rPr lang="en-US" altLang="en-US" sz="2400"/>
              <a:t> due to reactive repairs and downtime</a:t>
            </a:r>
            <a:endParaRPr lang="en-US" altLang="en-US" sz="2400"/>
          </a:p>
          <a:p>
            <a:r>
              <a:rPr lang="en-US" altLang="en-US" sz="2400" b="1"/>
              <a:t>Goal → Shift from reactive to proactive &amp; predictive maintenance</a:t>
            </a:r>
            <a:r>
              <a:rPr lang="en-US" altLang="en-US" sz="2400"/>
              <a:t>.</a:t>
            </a: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39090"/>
            <a:ext cx="10972800" cy="776605"/>
          </a:xfrm>
        </p:spPr>
        <p:txBody>
          <a:bodyPr/>
          <a:p>
            <a:r>
              <a:rPr lang="en-US" altLang="en-US" b="1">
                <a:solidFill>
                  <a:srgbClr val="002060"/>
                </a:solidFill>
              </a:rPr>
              <a:t>Our Solution: AI-Powered Remaining Useful Life (RUL) Prediction</a:t>
            </a:r>
            <a:endParaRPr lang="en-US" altLang="en-US" b="1">
              <a:solidFill>
                <a:srgbClr val="002060"/>
              </a:solidFill>
            </a:endParaRPr>
          </a:p>
        </p:txBody>
      </p:sp>
      <p:sp>
        <p:nvSpPr>
          <p:cNvPr id="3" name="Content Placeholder 2"/>
          <p:cNvSpPr>
            <a:spLocks noGrp="1"/>
          </p:cNvSpPr>
          <p:nvPr>
            <p:ph idx="1"/>
          </p:nvPr>
        </p:nvSpPr>
        <p:spPr>
          <a:xfrm>
            <a:off x="609600" y="1556385"/>
            <a:ext cx="10972800" cy="4699635"/>
          </a:xfrm>
        </p:spPr>
        <p:txBody>
          <a:bodyPr/>
          <a:p>
            <a:r>
              <a:rPr lang="en-US" altLang="en-US" sz="2400"/>
              <a:t>We use a </a:t>
            </a:r>
            <a:r>
              <a:rPr lang="en-US" altLang="en-US" sz="2400" b="1"/>
              <a:t>Hybrid Predictive Maintenance</a:t>
            </a:r>
            <a:r>
              <a:rPr lang="en-US" altLang="en-US" sz="2400"/>
              <a:t> Model powered by </a:t>
            </a:r>
            <a:r>
              <a:rPr lang="en-US" altLang="en-US" sz="2400" b="1"/>
              <a:t>Chronos (LLM) + CNN embeddings</a:t>
            </a:r>
            <a:r>
              <a:rPr lang="en-US" altLang="en-US" sz="2400"/>
              <a:t> to forecast engine Remaining Useful Life (RUL) from time-series sensor data.</a:t>
            </a:r>
            <a:endParaRPr lang="en-US" altLang="en-US" sz="2400"/>
          </a:p>
          <a:p>
            <a:pPr marL="0" indent="0">
              <a:buNone/>
            </a:pPr>
            <a:endParaRPr lang="en-US" altLang="en-US" sz="2400"/>
          </a:p>
          <a:p>
            <a:r>
              <a:rPr lang="en-US" altLang="en-US" sz="2400"/>
              <a:t>Our system enables:</a:t>
            </a:r>
            <a:endParaRPr lang="en-US" altLang="en-US" sz="2400"/>
          </a:p>
          <a:p>
            <a:r>
              <a:rPr lang="en-US" altLang="en-US" sz="2400" b="1"/>
              <a:t>Early failure prediction</a:t>
            </a:r>
            <a:r>
              <a:rPr lang="en-US" altLang="en-US" sz="2400"/>
              <a:t> through pattern learning in sensor signals</a:t>
            </a:r>
            <a:endParaRPr lang="en-US" altLang="en-US" sz="2400"/>
          </a:p>
          <a:p>
            <a:r>
              <a:rPr lang="en-US" altLang="en-US" sz="2400" b="1"/>
              <a:t>Actionable maintenance insights</a:t>
            </a:r>
            <a:r>
              <a:rPr lang="en-US" altLang="en-US" sz="2400"/>
              <a:t> instead of raw forecasts</a:t>
            </a:r>
            <a:endParaRPr lang="en-US" altLang="en-US" sz="2400"/>
          </a:p>
          <a:p>
            <a:r>
              <a:rPr lang="en-US" altLang="en-US" sz="2400" b="1"/>
              <a:t>Optimized maintenance planning</a:t>
            </a:r>
            <a:r>
              <a:rPr lang="en-US" altLang="en-US" sz="2400"/>
              <a:t> based on real-time health estimates</a:t>
            </a:r>
            <a:endParaRPr lang="en-US" altLang="en-US" sz="2400"/>
          </a:p>
          <a:p>
            <a:r>
              <a:rPr lang="en-US" altLang="en-US" sz="2400" b="1"/>
              <a:t>Outcome → Smarter decisions, lower downtime, longer component life.</a:t>
            </a:r>
            <a:endParaRPr lang="en-US" altLang="en-US"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002060"/>
                </a:solidFill>
              </a:rPr>
              <a:t>Model Exploration &amp; Selection Journey</a:t>
            </a:r>
            <a:endParaRPr lang="en-US" altLang="en-US" b="1">
              <a:solidFill>
                <a:srgbClr val="002060"/>
              </a:solidFill>
            </a:endParaRPr>
          </a:p>
        </p:txBody>
      </p:sp>
      <p:sp>
        <p:nvSpPr>
          <p:cNvPr id="3" name="Content Placeholder 2"/>
          <p:cNvSpPr>
            <a:spLocks noGrp="1"/>
          </p:cNvSpPr>
          <p:nvPr>
            <p:ph idx="1"/>
          </p:nvPr>
        </p:nvSpPr>
        <p:spPr>
          <a:xfrm>
            <a:off x="609600" y="1174750"/>
            <a:ext cx="11259820" cy="4707890"/>
          </a:xfrm>
        </p:spPr>
        <p:txBody>
          <a:bodyPr/>
          <a:p>
            <a:r>
              <a:rPr lang="en-US" altLang="en-US" sz="2400" b="1"/>
              <a:t>Chronos (Amazon)</a:t>
            </a:r>
            <a:r>
              <a:rPr lang="en-US" altLang="en-US" sz="2400"/>
              <a:t> – Strong zero-shot forecasting, robust to noise</a:t>
            </a:r>
            <a:endParaRPr lang="en-US" altLang="en-US" sz="2400"/>
          </a:p>
          <a:p>
            <a:r>
              <a:rPr lang="en-US" altLang="en-US" sz="2400" b="1"/>
              <a:t>TimesFM (Google) </a:t>
            </a:r>
            <a:r>
              <a:rPr lang="en-US" altLang="en-US" sz="2400"/>
              <a:t>– Large-scale multivariate forecasting</a:t>
            </a:r>
            <a:endParaRPr lang="en-US" altLang="en-US" sz="2400"/>
          </a:p>
          <a:p>
            <a:r>
              <a:rPr lang="en-US" altLang="en-US" sz="2400" b="1"/>
              <a:t>Moirai (Salesforce)</a:t>
            </a:r>
            <a:r>
              <a:rPr lang="en-US" altLang="en-US" sz="2400"/>
              <a:t> – Adaptive multi-horizon prediction</a:t>
            </a:r>
            <a:endParaRPr lang="en-US" altLang="en-US" sz="2400"/>
          </a:p>
          <a:p>
            <a:r>
              <a:rPr lang="en-US" altLang="en-US" sz="2400" b="1"/>
              <a:t>MOMENT (Meta)</a:t>
            </a:r>
            <a:r>
              <a:rPr lang="en-US" altLang="en-US" sz="2400"/>
              <a:t> – Captures long-term seasonal patterns</a:t>
            </a:r>
            <a:endParaRPr lang="en-US" altLang="en-US" sz="2400"/>
          </a:p>
          <a:p>
            <a:r>
              <a:rPr lang="en-US" altLang="en-US" sz="2400" b="1"/>
              <a:t>1D-CNNs </a:t>
            </a:r>
            <a:r>
              <a:rPr lang="en-US" altLang="en-US" sz="2400">
                <a:sym typeface="+mn-ea"/>
              </a:rPr>
              <a:t>– F</a:t>
            </a:r>
            <a:r>
              <a:rPr lang="en-US" altLang="en-US" sz="2400"/>
              <a:t>eature extraction and local pattern learning.</a:t>
            </a:r>
            <a:endParaRPr lang="en-US" altLang="en-US" sz="2400"/>
          </a:p>
          <a:p>
            <a:r>
              <a:rPr lang="en-US" altLang="en-US" sz="2400" b="1"/>
              <a:t>Hybrid approach</a:t>
            </a:r>
            <a:r>
              <a:rPr lang="en-US" altLang="en-US" sz="2400"/>
              <a:t> → CNN for signal patterns + Chronos (LLM) for reasoning &amp; forecasting.</a:t>
            </a:r>
            <a:endParaRPr lang="en-US" altLang="en-US" sz="2400"/>
          </a:p>
          <a:p>
            <a:endParaRPr lang="en-US" altLang="en-US" sz="2400"/>
          </a:p>
          <a:p>
            <a:r>
              <a:rPr lang="en-US" altLang="en-US" sz="2400" b="1"/>
              <a:t>Result → Improved stability, interpretability &amp; forecasting quality.</a:t>
            </a:r>
            <a:endParaRPr lang="en-US" altLang="en-US" sz="24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002060"/>
                </a:solidFill>
                <a:sym typeface="+mn-ea"/>
              </a:rPr>
              <a:t>Model Evolution</a:t>
            </a:r>
            <a:endParaRPr lang="en-US"/>
          </a:p>
        </p:txBody>
      </p:sp>
      <p:sp>
        <p:nvSpPr>
          <p:cNvPr id="3" name="Content Placeholder 2"/>
          <p:cNvSpPr>
            <a:spLocks noGrp="1"/>
          </p:cNvSpPr>
          <p:nvPr>
            <p:ph idx="1"/>
          </p:nvPr>
        </p:nvSpPr>
        <p:spPr>
          <a:xfrm>
            <a:off x="609600" y="1174750"/>
            <a:ext cx="10972800" cy="5683250"/>
          </a:xfrm>
        </p:spPr>
        <p:txBody>
          <a:bodyPr/>
          <a:p>
            <a:r>
              <a:rPr lang="en-US" altLang="en-US" sz="2400" b="1"/>
              <a:t>Stage 1</a:t>
            </a:r>
            <a:r>
              <a:rPr lang="en-US" altLang="en-US" sz="2400"/>
              <a:t> – LLM-Based Forecasting (Chronos): Initial experiments using Chronos for time-series forecasting.</a:t>
            </a:r>
            <a:endParaRPr lang="en-US" altLang="en-US" sz="2400"/>
          </a:p>
          <a:p>
            <a:r>
              <a:rPr lang="en-US" altLang="en-US" sz="2400" b="1"/>
              <a:t>Stage 2</a:t>
            </a:r>
            <a:r>
              <a:rPr lang="en-US" altLang="en-US" sz="2400"/>
              <a:t> – 1D-CNN Modeling: Captured local sensor trends and short-term fluctuations.</a:t>
            </a:r>
            <a:endParaRPr lang="en-US" altLang="en-US" sz="2400"/>
          </a:p>
          <a:p>
            <a:r>
              <a:rPr lang="en-US" altLang="en-US" sz="2400" b="1"/>
              <a:t>Stage 3</a:t>
            </a:r>
            <a:r>
              <a:rPr lang="en-US" altLang="en-US" sz="2400"/>
              <a:t> – Hybrid Approach (Final):  CNN + LLM combined-  CNN → Extracts short-term sensor patterns, LLM (T5/Chronos) → Performs reasoning and long-horizon prediction</a:t>
            </a:r>
            <a:endParaRPr lang="en-US" altLang="en-US" sz="2400"/>
          </a:p>
          <a:p>
            <a:pPr marL="0" indent="0">
              <a:buNone/>
            </a:pPr>
            <a:endParaRPr lang="en-US" altLang="en-US" sz="2400"/>
          </a:p>
          <a:p>
            <a:pPr marL="0" indent="0">
              <a:buNone/>
            </a:pPr>
            <a:r>
              <a:rPr lang="en-US" altLang="en-US" sz="2400" b="1"/>
              <a:t>Outcome:</a:t>
            </a:r>
            <a:endParaRPr lang="en-US" altLang="en-US" sz="2400"/>
          </a:p>
          <a:p>
            <a:r>
              <a:rPr lang="en-US" altLang="en-US" sz="2400"/>
              <a:t>Hybrid approach delivers significantly better accuracy and stability than both standalone models.</a:t>
            </a: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002060"/>
                </a:solidFill>
              </a:rPr>
              <a:t> Technology Stack</a:t>
            </a:r>
            <a:endParaRPr lang="en-US" altLang="en-US" b="1">
              <a:solidFill>
                <a:srgbClr val="002060"/>
              </a:solidFill>
            </a:endParaRPr>
          </a:p>
        </p:txBody>
      </p:sp>
      <p:sp>
        <p:nvSpPr>
          <p:cNvPr id="3" name="Content Placeholder 2"/>
          <p:cNvSpPr>
            <a:spLocks noGrp="1"/>
          </p:cNvSpPr>
          <p:nvPr>
            <p:ph idx="1"/>
          </p:nvPr>
        </p:nvSpPr>
        <p:spPr/>
        <p:txBody>
          <a:bodyPr/>
          <a:p>
            <a:r>
              <a:rPr lang="en-US" altLang="en-US" sz="2400" b="1"/>
              <a:t>Data</a:t>
            </a:r>
            <a:r>
              <a:rPr lang="en-US" altLang="en-US" sz="2400"/>
              <a:t>: Synthetic Data created using mostly ai</a:t>
            </a:r>
            <a:endParaRPr lang="en-US" altLang="en-US" sz="2400"/>
          </a:p>
          <a:p>
            <a:r>
              <a:rPr lang="en-US" altLang="en-US" sz="2400" b="1"/>
              <a:t>Preprocessing</a:t>
            </a:r>
            <a:r>
              <a:rPr lang="en-US" altLang="en-US" sz="2400"/>
              <a:t>: Pandas, NumPy, Sklearn</a:t>
            </a:r>
            <a:endParaRPr lang="en-US" altLang="en-US" sz="2400"/>
          </a:p>
          <a:p>
            <a:r>
              <a:rPr lang="en-US" altLang="en-US" sz="2400" b="1"/>
              <a:t>Feature Extraction:</a:t>
            </a:r>
            <a:r>
              <a:rPr lang="en-US" altLang="en-US" sz="2400"/>
              <a:t> 1D-CNN embeddings</a:t>
            </a:r>
            <a:endParaRPr lang="en-US" altLang="en-US" sz="2400"/>
          </a:p>
          <a:p>
            <a:r>
              <a:rPr lang="en-US" altLang="en-US" sz="2400" b="1"/>
              <a:t>Forecasting:</a:t>
            </a:r>
            <a:r>
              <a:rPr lang="en-US" altLang="en-US" sz="2400"/>
              <a:t> Chronos LLM (Hybrid with CNN)</a:t>
            </a:r>
            <a:endParaRPr lang="en-US" altLang="en-US" sz="2400"/>
          </a:p>
          <a:p>
            <a:r>
              <a:rPr lang="en-US" altLang="en-US" sz="2400" b="1"/>
              <a:t>Evaluation:</a:t>
            </a:r>
            <a:r>
              <a:rPr lang="en-US" altLang="en-US" sz="2400"/>
              <a:t> ROC, PR, Confusion Matrix, PCA</a:t>
            </a:r>
            <a:endParaRPr lang="en-US" altLang="en-US" sz="2400"/>
          </a:p>
          <a:p>
            <a:r>
              <a:rPr lang="en-US" altLang="en-US" sz="2400" b="1"/>
              <a:t>Deployment:</a:t>
            </a:r>
            <a:r>
              <a:rPr lang="en-US" altLang="en-US" sz="2400"/>
              <a:t> Streamlit Dashboard</a:t>
            </a:r>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002060"/>
                </a:solidFill>
              </a:rPr>
              <a:t>Understanding the Engine Data: Key Sensors</a:t>
            </a:r>
            <a:endParaRPr lang="en-US" altLang="en-US" b="1">
              <a:solidFill>
                <a:srgbClr val="002060"/>
              </a:solidFill>
            </a:endParaRPr>
          </a:p>
        </p:txBody>
      </p:sp>
      <p:sp>
        <p:nvSpPr>
          <p:cNvPr id="3" name="Content Placeholder 2"/>
          <p:cNvSpPr>
            <a:spLocks noGrp="1"/>
          </p:cNvSpPr>
          <p:nvPr>
            <p:ph idx="1"/>
          </p:nvPr>
        </p:nvSpPr>
        <p:spPr/>
        <p:txBody>
          <a:bodyPr/>
          <a:p>
            <a:r>
              <a:rPr lang="en-US" altLang="en-US" sz="2400"/>
              <a:t>The model uses critical </a:t>
            </a:r>
            <a:r>
              <a:rPr lang="en-US" altLang="en-US" sz="2400" b="1"/>
              <a:t>operational and senso</a:t>
            </a:r>
            <a:r>
              <a:rPr lang="en-US" altLang="en-US" sz="2400"/>
              <a:t>r data from the turbofan engine to predict Remaining Useful Life (RUL):</a:t>
            </a:r>
            <a:endParaRPr lang="en-US" altLang="en-US" sz="2400"/>
          </a:p>
          <a:p>
            <a:endParaRPr lang="en-US" altLang="en-US" sz="2400"/>
          </a:p>
          <a:p>
            <a:pPr>
              <a:buFont typeface="Wingdings" panose="05000000000000000000" charset="0"/>
              <a:buChar char="Ø"/>
            </a:pPr>
            <a:r>
              <a:rPr lang="en-US" altLang="en-US" sz="2400" b="1"/>
              <a:t>Operational Settings (1–3)</a:t>
            </a:r>
            <a:r>
              <a:rPr lang="en-US" altLang="en-US" sz="2400"/>
              <a:t>: Altitude, Mach number, and throttle angle defining engine conditions.</a:t>
            </a:r>
            <a:endParaRPr lang="en-US" altLang="en-US" sz="2400"/>
          </a:p>
          <a:p>
            <a:pPr>
              <a:buFont typeface="Wingdings" panose="05000000000000000000" charset="0"/>
              <a:buChar char="Ø"/>
            </a:pPr>
            <a:r>
              <a:rPr lang="en-US" altLang="en-US" sz="2400" b="1"/>
              <a:t>Temperatures (4, 11)</a:t>
            </a:r>
            <a:r>
              <a:rPr lang="en-US" altLang="en-US" sz="2400"/>
              <a:t>: LPC outlet and core nozzle temperatures for thermal stress monitoring.</a:t>
            </a:r>
            <a:endParaRPr lang="en-US" altLang="en-US" sz="2400"/>
          </a:p>
          <a:p>
            <a:pPr>
              <a:buFont typeface="Wingdings" panose="05000000000000000000" charset="0"/>
              <a:buChar char="Ø"/>
            </a:pPr>
            <a:r>
              <a:rPr lang="en-US" altLang="en-US" sz="2400" b="1"/>
              <a:t>Pressures (3, 15)</a:t>
            </a:r>
            <a:r>
              <a:rPr lang="en-US" altLang="en-US" sz="2400"/>
              <a:t>: HPC outlet and core static pressures indicating compression efficiency.</a:t>
            </a:r>
            <a:endParaRPr lang="en-US" altLang="en-US" sz="2400"/>
          </a:p>
          <a:p>
            <a:pPr>
              <a:buFont typeface="Wingdings" panose="05000000000000000000" charset="0"/>
              <a:buChar char="Ø"/>
            </a:pPr>
            <a:r>
              <a:rPr lang="en-US" altLang="en-US" sz="2400" b="1"/>
              <a:t>Speeds (2, 7, 12)</a:t>
            </a:r>
            <a:r>
              <a:rPr lang="en-US" altLang="en-US" sz="2400"/>
              <a:t>: Fan, LPC, and HPC rotational speeds to detect mechanical wear.</a:t>
            </a:r>
            <a:endParaRPr lang="en-US" altLang="en-US" sz="2400"/>
          </a:p>
          <a:p>
            <a:pPr>
              <a:buFont typeface="Wingdings" panose="05000000000000000000" charset="0"/>
              <a:buChar char="Ø"/>
            </a:pPr>
            <a:r>
              <a:rPr lang="en-US" altLang="en-US" sz="2400" b="1"/>
              <a:t>Fuel Flow (20, 21)</a:t>
            </a:r>
            <a:r>
              <a:rPr lang="en-US" altLang="en-US" sz="2400"/>
              <a:t>: Fuel flow–pressure ratio signaling efficiency and health.</a:t>
            </a:r>
            <a:endParaRPr lang="en-US" altLang="en-US" sz="2400"/>
          </a:p>
          <a:p>
            <a:pPr>
              <a:buFont typeface="Wingdings" panose="05000000000000000000" charset="0"/>
              <a:buChar char="Ø"/>
            </a:pP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19100"/>
            <a:ext cx="10972800" cy="582613"/>
          </a:xfrm>
        </p:spPr>
        <p:txBody>
          <a:bodyPr/>
          <a:p>
            <a:r>
              <a:rPr lang="en-US" altLang="en-US" b="1">
                <a:solidFill>
                  <a:srgbClr val="002060"/>
                </a:solidFill>
                <a:sym typeface="+mn-ea"/>
              </a:rPr>
              <a:t>Prediction Based Model Results &amp; Evaluation – Hybrid Approach</a:t>
            </a:r>
            <a:endParaRPr lang="en-US"/>
          </a:p>
        </p:txBody>
      </p:sp>
      <p:sp>
        <p:nvSpPr>
          <p:cNvPr id="3" name="Content Placeholder 2"/>
          <p:cNvSpPr>
            <a:spLocks noGrp="1"/>
          </p:cNvSpPr>
          <p:nvPr>
            <p:ph idx="1"/>
          </p:nvPr>
        </p:nvSpPr>
        <p:spPr>
          <a:xfrm>
            <a:off x="609600" y="1643380"/>
            <a:ext cx="10972800" cy="4953000"/>
          </a:xfrm>
        </p:spPr>
        <p:txBody>
          <a:bodyPr/>
          <a:p>
            <a:r>
              <a:rPr lang="en-US" altLang="en-US" sz="2400" b="1"/>
              <a:t>Overall Accuracy:</a:t>
            </a:r>
            <a:r>
              <a:rPr lang="en-US" altLang="en-US" sz="2400"/>
              <a:t> ~99.74%</a:t>
            </a:r>
            <a:endParaRPr lang="en-US" altLang="en-US" sz="2400"/>
          </a:p>
          <a:p>
            <a:endParaRPr lang="en-US" altLang="en-US" sz="2400"/>
          </a:p>
          <a:p>
            <a:r>
              <a:rPr lang="en-US" altLang="en-US" sz="2400" b="1"/>
              <a:t>Precision / Recall:</a:t>
            </a:r>
            <a:r>
              <a:rPr lang="en-US" altLang="en-US" sz="2400"/>
              <a:t> High precision in failure class → minimal false alarms</a:t>
            </a:r>
            <a:endParaRPr lang="en-US" altLang="en-US" sz="2400"/>
          </a:p>
          <a:p>
            <a:endParaRPr lang="en-US" altLang="en-US" sz="2400"/>
          </a:p>
          <a:p>
            <a:r>
              <a:rPr lang="en-US" altLang="en-US" sz="2400" b="1"/>
              <a:t>F1-Score:</a:t>
            </a:r>
            <a:r>
              <a:rPr lang="en-US" altLang="en-US" sz="2400"/>
              <a:t> Balanced performance across all engine states (healthy vs failure)</a:t>
            </a:r>
            <a:endParaRPr lang="en-US" altLang="en-US" sz="2400"/>
          </a:p>
          <a:p>
            <a:endParaRPr lang="en-US" altLang="en-US" sz="2400"/>
          </a:p>
          <a:p>
            <a:r>
              <a:rPr lang="en-US" altLang="en-US" sz="2400" b="1"/>
              <a:t>Confusion Matrix Insight:</a:t>
            </a:r>
            <a:r>
              <a:rPr lang="en-US" altLang="en-US" sz="2400"/>
              <a:t> Majority of failures correctly identified, almost no misclassification toward “healthy” class</a:t>
            </a: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339725"/>
            <a:ext cx="10972800" cy="582613"/>
          </a:xfrm>
        </p:spPr>
        <p:txBody>
          <a:bodyPr/>
          <a:p>
            <a:r>
              <a:rPr lang="en-US" b="1">
                <a:solidFill>
                  <a:srgbClr val="002060"/>
                </a:solidFill>
                <a:sym typeface="+mn-ea"/>
              </a:rPr>
              <a:t>Model Evaluation</a:t>
            </a:r>
            <a:endParaRPr lang="en-US" b="1">
              <a:solidFill>
                <a:srgbClr val="002060"/>
              </a:solidFill>
            </a:endParaRPr>
          </a:p>
        </p:txBody>
      </p:sp>
      <p:graphicFrame>
        <p:nvGraphicFramePr>
          <p:cNvPr id="4" name="Content Placeholder 3"/>
          <p:cNvGraphicFramePr/>
          <p:nvPr>
            <p:ph idx="1"/>
            <p:custDataLst>
              <p:tags r:id="rId1"/>
            </p:custDataLst>
          </p:nvPr>
        </p:nvGraphicFramePr>
        <p:xfrm>
          <a:off x="609600" y="1706880"/>
          <a:ext cx="10972800" cy="3038475"/>
        </p:xfrm>
        <a:graphic>
          <a:graphicData uri="http://schemas.openxmlformats.org/drawingml/2006/table">
            <a:tbl>
              <a:tblPr firstRow="1" bandRow="1">
                <a:tableStyleId>{5C22544A-7EE6-4342-B048-85BDC9FD1C3A}</a:tableStyleId>
              </a:tblPr>
              <a:tblGrid>
                <a:gridCol w="3657600"/>
                <a:gridCol w="3657600"/>
                <a:gridCol w="3657600"/>
              </a:tblGrid>
              <a:tr h="607695">
                <a:tc>
                  <a:txBody>
                    <a:bodyPr/>
                    <a:p>
                      <a:pPr>
                        <a:buNone/>
                      </a:pPr>
                      <a:r>
                        <a:rPr lang="en-US"/>
                        <a:t>Metrics</a:t>
                      </a:r>
                      <a:endParaRPr lang="en-US"/>
                    </a:p>
                  </a:txBody>
                  <a:tcPr/>
                </a:tc>
                <a:tc>
                  <a:txBody>
                    <a:bodyPr/>
                    <a:p>
                      <a:pPr>
                        <a:buNone/>
                      </a:pPr>
                      <a:r>
                        <a:rPr lang="en-US"/>
                        <a:t>Training</a:t>
                      </a:r>
                      <a:endParaRPr lang="en-US"/>
                    </a:p>
                  </a:txBody>
                  <a:tcPr/>
                </a:tc>
                <a:tc>
                  <a:txBody>
                    <a:bodyPr/>
                    <a:p>
                      <a:pPr>
                        <a:buNone/>
                      </a:pPr>
                      <a:r>
                        <a:rPr lang="en-US"/>
                        <a:t>Testing</a:t>
                      </a:r>
                      <a:endParaRPr lang="en-US"/>
                    </a:p>
                  </a:txBody>
                  <a:tcPr/>
                </a:tc>
              </a:tr>
              <a:tr h="607695">
                <a:tc>
                  <a:txBody>
                    <a:bodyPr/>
                    <a:p>
                      <a:pPr>
                        <a:buNone/>
                      </a:pPr>
                      <a:r>
                        <a:rPr lang="en-US"/>
                        <a:t>Accuracy</a:t>
                      </a:r>
                      <a:endParaRPr lang="en-US"/>
                    </a:p>
                  </a:txBody>
                  <a:tcPr/>
                </a:tc>
                <a:tc>
                  <a:txBody>
                    <a:bodyPr/>
                    <a:p>
                      <a:pPr>
                        <a:buNone/>
                      </a:pPr>
                      <a:r>
                        <a:rPr lang="en-US"/>
                        <a:t>99.83</a:t>
                      </a:r>
                      <a:endParaRPr lang="en-US"/>
                    </a:p>
                  </a:txBody>
                  <a:tcPr/>
                </a:tc>
                <a:tc>
                  <a:txBody>
                    <a:bodyPr/>
                    <a:p>
                      <a:pPr>
                        <a:buNone/>
                      </a:pPr>
                      <a:r>
                        <a:rPr lang="en-US"/>
                        <a:t>99.74</a:t>
                      </a:r>
                      <a:endParaRPr lang="en-US"/>
                    </a:p>
                  </a:txBody>
                  <a:tcPr/>
                </a:tc>
              </a:tr>
              <a:tr h="607695">
                <a:tc>
                  <a:txBody>
                    <a:bodyPr/>
                    <a:p>
                      <a:pPr>
                        <a:buNone/>
                      </a:pPr>
                      <a:r>
                        <a:rPr lang="en-US"/>
                        <a:t>Precision</a:t>
                      </a:r>
                      <a:endParaRPr lang="en-US"/>
                    </a:p>
                  </a:txBody>
                  <a:tcPr/>
                </a:tc>
                <a:tc>
                  <a:txBody>
                    <a:bodyPr/>
                    <a:p>
                      <a:pPr>
                        <a:buNone/>
                      </a:pPr>
                      <a:r>
                        <a:rPr lang="en-US" altLang="en-US"/>
                        <a:t>0.9997</a:t>
                      </a:r>
                      <a:endParaRPr lang="en-US" altLang="en-US"/>
                    </a:p>
                  </a:txBody>
                  <a:tcPr/>
                </a:tc>
                <a:tc>
                  <a:txBody>
                    <a:bodyPr/>
                    <a:p>
                      <a:pPr>
                        <a:buNone/>
                      </a:pPr>
                      <a:r>
                        <a:rPr lang="en-US" altLang="en-US"/>
                        <a:t>0.9974</a:t>
                      </a:r>
                      <a:endParaRPr lang="en-US" altLang="en-US"/>
                    </a:p>
                  </a:txBody>
                  <a:tcPr/>
                </a:tc>
              </a:tr>
              <a:tr h="607695">
                <a:tc>
                  <a:txBody>
                    <a:bodyPr/>
                    <a:p>
                      <a:pPr>
                        <a:buNone/>
                      </a:pPr>
                      <a:r>
                        <a:rPr lang="en-US"/>
                        <a:t>Recall</a:t>
                      </a:r>
                      <a:endParaRPr lang="en-US"/>
                    </a:p>
                  </a:txBody>
                  <a:tcPr/>
                </a:tc>
                <a:tc>
                  <a:txBody>
                    <a:bodyPr/>
                    <a:p>
                      <a:pPr>
                        <a:buNone/>
                      </a:pPr>
                      <a:r>
                        <a:rPr lang="en-US"/>
                        <a:t>0.9975</a:t>
                      </a:r>
                      <a:endParaRPr lang="en-US"/>
                    </a:p>
                  </a:txBody>
                  <a:tcPr/>
                </a:tc>
                <a:tc>
                  <a:txBody>
                    <a:bodyPr/>
                    <a:p>
                      <a:pPr>
                        <a:buNone/>
                      </a:pPr>
                      <a:r>
                        <a:rPr lang="en-US" sz="1800"/>
                        <a:t>0.9974</a:t>
                      </a:r>
                      <a:endParaRPr lang="en-US" sz="1800"/>
                    </a:p>
                    <a:p>
                      <a:pPr>
                        <a:buNone/>
                      </a:pPr>
                      <a:endParaRPr lang="en-US"/>
                    </a:p>
                  </a:txBody>
                  <a:tcPr/>
                </a:tc>
              </a:tr>
              <a:tr h="607695">
                <a:tc>
                  <a:txBody>
                    <a:bodyPr/>
                    <a:p>
                      <a:pPr>
                        <a:buNone/>
                      </a:pPr>
                      <a:r>
                        <a:rPr lang="en-US"/>
                        <a:t>F1 score</a:t>
                      </a:r>
                      <a:endParaRPr lang="en-US"/>
                    </a:p>
                  </a:txBody>
                  <a:tcPr/>
                </a:tc>
                <a:tc>
                  <a:txBody>
                    <a:bodyPr/>
                    <a:p>
                      <a:pPr>
                        <a:buNone/>
                      </a:pPr>
                      <a:r>
                        <a:rPr lang="en-US"/>
                        <a:t>0.9986</a:t>
                      </a:r>
                      <a:endParaRPr lang="en-US"/>
                    </a:p>
                  </a:txBody>
                  <a:tcPr/>
                </a:tc>
                <a:tc>
                  <a:txBody>
                    <a:bodyPr/>
                    <a:p>
                      <a:pPr>
                        <a:buNone/>
                      </a:pPr>
                      <a:r>
                        <a:rPr lang="en-US" sz="1800"/>
                        <a:t>0.9974</a:t>
                      </a:r>
                      <a:endParaRPr lang="en-US" sz="1800"/>
                    </a:p>
                    <a:p>
                      <a:pPr>
                        <a:buNone/>
                      </a:pPr>
                      <a:endParaRPr lang="en-US"/>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002060"/>
                </a:solidFill>
                <a:sym typeface="+mn-ea"/>
              </a:rPr>
              <a:t>Delivered Components</a:t>
            </a:r>
            <a:endParaRPr lang="en-US"/>
          </a:p>
        </p:txBody>
      </p:sp>
      <p:sp>
        <p:nvSpPr>
          <p:cNvPr id="3" name="Content Placeholder 2"/>
          <p:cNvSpPr>
            <a:spLocks noGrp="1"/>
          </p:cNvSpPr>
          <p:nvPr>
            <p:ph idx="1"/>
          </p:nvPr>
        </p:nvSpPr>
        <p:spPr/>
        <p:txBody>
          <a:bodyPr/>
          <a:p>
            <a:r>
              <a:rPr lang="en-US" altLang="en-US" b="1"/>
              <a:t>Forecasting Dashboard</a:t>
            </a:r>
            <a:endParaRPr lang="en-US" altLang="en-US" b="1"/>
          </a:p>
          <a:p>
            <a:pPr marL="0" indent="0">
              <a:lnSpc>
                <a:spcPct val="100000"/>
              </a:lnSpc>
              <a:spcBef>
                <a:spcPts val="20"/>
              </a:spcBef>
              <a:spcAft>
                <a:spcPts val="0"/>
              </a:spcAft>
              <a:buNone/>
            </a:pPr>
            <a:r>
              <a:rPr lang="en-US" altLang="en-US"/>
              <a:t>  </a:t>
            </a:r>
            <a:r>
              <a:rPr lang="en-US" altLang="en-US" sz="2400"/>
              <a:t> </a:t>
            </a:r>
            <a:r>
              <a:rPr lang="en-US" altLang="en-US" sz="2800">
                <a:sym typeface="+mn-ea"/>
              </a:rPr>
              <a:t>The forecasting dashboard predicts multi-day engine-health trends</a:t>
            </a:r>
            <a:endParaRPr lang="en-US" altLang="en-US" sz="2800">
              <a:sym typeface="+mn-ea"/>
            </a:endParaRPr>
          </a:p>
          <a:p>
            <a:pPr marL="0" indent="0">
              <a:lnSpc>
                <a:spcPct val="100000"/>
              </a:lnSpc>
              <a:spcBef>
                <a:spcPts val="20"/>
              </a:spcBef>
              <a:spcAft>
                <a:spcPts val="0"/>
              </a:spcAft>
              <a:buNone/>
            </a:pPr>
            <a:r>
              <a:rPr lang="en-US" altLang="en-US" sz="2800">
                <a:sym typeface="+mn-ea"/>
              </a:rPr>
              <a:t>   </a:t>
            </a:r>
            <a:r>
              <a:rPr lang="en-US" altLang="en-US" sz="2800">
                <a:sym typeface="+mn-ea"/>
              </a:rPr>
              <a:t>and detects potential failure cycles early using the hybrid model. It </a:t>
            </a:r>
            <a:endParaRPr lang="en-US" altLang="en-US" sz="2800">
              <a:sym typeface="+mn-ea"/>
            </a:endParaRPr>
          </a:p>
          <a:p>
            <a:pPr marL="0" indent="0">
              <a:lnSpc>
                <a:spcPct val="100000"/>
              </a:lnSpc>
              <a:spcBef>
                <a:spcPts val="20"/>
              </a:spcBef>
              <a:spcAft>
                <a:spcPts val="0"/>
              </a:spcAft>
              <a:buNone/>
            </a:pPr>
            <a:r>
              <a:rPr lang="en-US" altLang="en-US" sz="2800">
                <a:sym typeface="+mn-ea"/>
              </a:rPr>
              <a:t>   provides clear visual insights that help engineers make timely, </a:t>
            </a:r>
            <a:endParaRPr lang="en-US" altLang="en-US" sz="2800">
              <a:sym typeface="+mn-ea"/>
            </a:endParaRPr>
          </a:p>
          <a:p>
            <a:pPr marL="0" indent="0">
              <a:lnSpc>
                <a:spcPct val="100000"/>
              </a:lnSpc>
              <a:spcBef>
                <a:spcPts val="20"/>
              </a:spcBef>
              <a:spcAft>
                <a:spcPts val="0"/>
              </a:spcAft>
              <a:buNone/>
            </a:pPr>
            <a:r>
              <a:rPr lang="en-US" altLang="en-US" sz="2800">
                <a:sym typeface="+mn-ea"/>
              </a:rPr>
              <a:t>   data-driven maintenance decisions. </a:t>
            </a:r>
            <a:endParaRPr lang="en-US" altLang="en-US" sz="2800">
              <a:sym typeface="+mn-ea"/>
            </a:endParaRPr>
          </a:p>
          <a:p>
            <a:pPr marL="0" indent="0">
              <a:lnSpc>
                <a:spcPct val="100000"/>
              </a:lnSpc>
              <a:spcBef>
                <a:spcPts val="20"/>
              </a:spcBef>
              <a:spcAft>
                <a:spcPts val="0"/>
              </a:spcAft>
              <a:buNone/>
            </a:pPr>
            <a:r>
              <a:rPr lang="en-US" altLang="en-US" sz="2800">
                <a:sym typeface="+mn-ea"/>
              </a:rPr>
              <a:t> </a:t>
            </a:r>
            <a:r>
              <a:rPr lang="en-US" altLang="en-US" sz="2800">
                <a:sym typeface="+mn-ea"/>
              </a:rPr>
              <a:t> </a:t>
            </a:r>
            <a:endParaRPr lang="en-US" altLang="en-US" sz="2800">
              <a:sym typeface="+mn-ea"/>
            </a:endParaRPr>
          </a:p>
          <a:p>
            <a:pPr>
              <a:lnSpc>
                <a:spcPct val="100000"/>
              </a:lnSpc>
              <a:spcBef>
                <a:spcPts val="20"/>
              </a:spcBef>
              <a:spcAft>
                <a:spcPts val="0"/>
              </a:spcAft>
              <a:buFont typeface="Arial" panose="020B0604020202020204" pitchFamily="34" charset="0"/>
              <a:buChar char="•"/>
            </a:pPr>
            <a:r>
              <a:rPr lang="en-US" altLang="en-US" b="1"/>
              <a:t>Inference Dashboard</a:t>
            </a:r>
            <a:endParaRPr lang="en-US" altLang="en-US" b="1"/>
          </a:p>
          <a:p>
            <a:pPr marL="0" indent="0">
              <a:lnSpc>
                <a:spcPct val="100000"/>
              </a:lnSpc>
              <a:spcBef>
                <a:spcPts val="20"/>
              </a:spcBef>
              <a:spcAft>
                <a:spcPts val="0"/>
              </a:spcAft>
              <a:buFont typeface="Arial" panose="020B0604020202020204" pitchFamily="34" charset="0"/>
              <a:buNone/>
            </a:pPr>
            <a:r>
              <a:rPr lang="en-US" altLang="en-US" sz="2800"/>
              <a:t>    </a:t>
            </a:r>
            <a:r>
              <a:rPr lang="en-US" altLang="en-US" sz="2800">
                <a:sym typeface="+mn-ea"/>
              </a:rPr>
              <a:t>Runs real-time predictions on new engine data, identifies high-risk </a:t>
            </a:r>
            <a:endParaRPr lang="en-US" altLang="en-US" sz="2800">
              <a:sym typeface="+mn-ea"/>
            </a:endParaRPr>
          </a:p>
          <a:p>
            <a:pPr marL="0" indent="0">
              <a:lnSpc>
                <a:spcPct val="100000"/>
              </a:lnSpc>
              <a:spcBef>
                <a:spcPts val="20"/>
              </a:spcBef>
              <a:spcAft>
                <a:spcPts val="0"/>
              </a:spcAft>
              <a:buFont typeface="Arial" panose="020B0604020202020204" pitchFamily="34" charset="0"/>
              <a:buNone/>
            </a:pPr>
            <a:r>
              <a:rPr lang="en-US" altLang="en-US" sz="2800">
                <a:sym typeface="+mn-ea"/>
              </a:rPr>
              <a:t>    </a:t>
            </a:r>
            <a:r>
              <a:rPr lang="en-US" altLang="en-US" sz="2800">
                <a:sym typeface="+mn-ea"/>
              </a:rPr>
              <a:t>cycles, and provides maintenance recommendations.</a:t>
            </a:r>
            <a:endParaRPr lang="en-US" altLang="en-US" sz="2800"/>
          </a:p>
          <a:p>
            <a:pPr marL="0" indent="0">
              <a:lnSpc>
                <a:spcPct val="100000"/>
              </a:lnSpc>
              <a:spcBef>
                <a:spcPts val="20"/>
              </a:spcBef>
              <a:spcAft>
                <a:spcPts val="0"/>
              </a:spcAft>
              <a:buFont typeface="Arial" panose="020B0604020202020204" pitchFamily="34" charset="0"/>
              <a:buNone/>
            </a:pPr>
            <a:endParaRPr lang="en-US"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rgbClr val="002060"/>
                </a:solidFill>
              </a:rPr>
              <a:t>Business Impact &amp; Value Proposition</a:t>
            </a:r>
            <a:endParaRPr lang="en-US" altLang="en-US" b="1">
              <a:solidFill>
                <a:srgbClr val="002060"/>
              </a:solidFill>
            </a:endParaRPr>
          </a:p>
        </p:txBody>
      </p:sp>
      <p:sp>
        <p:nvSpPr>
          <p:cNvPr id="3" name="Content Placeholder 2"/>
          <p:cNvSpPr>
            <a:spLocks noGrp="1"/>
          </p:cNvSpPr>
          <p:nvPr>
            <p:ph idx="1"/>
          </p:nvPr>
        </p:nvSpPr>
        <p:spPr/>
        <p:txBody>
          <a:bodyPr/>
          <a:p>
            <a:r>
              <a:rPr lang="en-US" altLang="en-US" sz="2400" b="1"/>
              <a:t>Reduce Unscheduled Downtime</a:t>
            </a:r>
            <a:r>
              <a:rPr lang="en-US" altLang="en-US" sz="2400"/>
              <a:t> → Increase aircraft availability and operational readiness</a:t>
            </a:r>
            <a:endParaRPr lang="en-US" altLang="en-US" sz="2400"/>
          </a:p>
          <a:p>
            <a:endParaRPr lang="en-US" altLang="en-US" sz="2400"/>
          </a:p>
          <a:p>
            <a:r>
              <a:rPr lang="en-US" altLang="en-US" sz="2400" b="1"/>
              <a:t>Lower Maintenance Costs</a:t>
            </a:r>
            <a:r>
              <a:rPr lang="en-US" altLang="en-US" sz="2400"/>
              <a:t> → Shift from reactive repairs to planned, cost-effective maintenance</a:t>
            </a:r>
            <a:endParaRPr lang="en-US" altLang="en-US" sz="2400"/>
          </a:p>
          <a:p>
            <a:endParaRPr lang="en-US" altLang="en-US" sz="2400"/>
          </a:p>
          <a:p>
            <a:r>
              <a:rPr lang="en-US" altLang="en-US" sz="2400" b="1"/>
              <a:t>Enhance Safety &amp; Reliability</a:t>
            </a:r>
            <a:r>
              <a:rPr lang="en-US" altLang="en-US" sz="2400"/>
              <a:t> → Minimize risk of in-flight engine failures</a:t>
            </a:r>
            <a:endParaRPr lang="en-US" altLang="en-US" sz="2400"/>
          </a:p>
          <a:p>
            <a:endParaRPr lang="en-US" altLang="en-US" sz="2400" b="1"/>
          </a:p>
          <a:p>
            <a:r>
              <a:rPr lang="en-US" altLang="en-US" sz="2400" b="1"/>
              <a:t>Improve Operational Efficiency</a:t>
            </a:r>
            <a:r>
              <a:rPr lang="en-US" altLang="en-US" sz="2400"/>
              <a:t> → Optimize maintenance schedules and resource allocation</a:t>
            </a: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002060"/>
                </a:solidFill>
              </a:rPr>
              <a:t>Conclusion</a:t>
            </a:r>
            <a:endParaRPr lang="en-US" b="1">
              <a:solidFill>
                <a:srgbClr val="002060"/>
              </a:solidFill>
            </a:endParaRPr>
          </a:p>
        </p:txBody>
      </p:sp>
      <p:sp>
        <p:nvSpPr>
          <p:cNvPr id="3" name="Content Placeholder 2"/>
          <p:cNvSpPr>
            <a:spLocks noGrp="1"/>
          </p:cNvSpPr>
          <p:nvPr>
            <p:ph idx="1"/>
          </p:nvPr>
        </p:nvSpPr>
        <p:spPr/>
        <p:txBody>
          <a:bodyPr/>
          <a:p>
            <a:r>
              <a:rPr lang="en-US" altLang="en-US" sz="2400"/>
              <a:t>The hybrid approach combining CNN-based embeddings with LLM-driven modeling outperforms standalone models for RUL forecasting on Synthetic data. While standalone models, such as LLMs or CNNs alone, showed variability and lower stability, the hybrid strategy delivers more accurate, reliable, and robust predictions, making it a strong candidate for predictive maintenance applications.</a:t>
            </a:r>
            <a:endParaRPr lang="en-US"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002060"/>
                </a:solidFill>
                <a:sym typeface="+mn-ea"/>
              </a:rPr>
              <a:t>References</a:t>
            </a:r>
            <a:endParaRPr lang="en-US"/>
          </a:p>
        </p:txBody>
      </p:sp>
      <p:sp>
        <p:nvSpPr>
          <p:cNvPr id="3" name="Content Placeholder 2"/>
          <p:cNvSpPr>
            <a:spLocks noGrp="1"/>
          </p:cNvSpPr>
          <p:nvPr>
            <p:ph idx="1"/>
          </p:nvPr>
        </p:nvSpPr>
        <p:spPr/>
        <p:txBody>
          <a:bodyPr/>
          <a:p>
            <a:r>
              <a:rPr lang="en-US" altLang="en-US"/>
              <a:t>Resources - </a:t>
            </a:r>
            <a:r>
              <a:rPr lang="en-US" altLang="en-US" sz="2800" u="sng">
                <a:hlinkClick r:id="rId1" action="ppaction://hlinkfile">
                  <a:extLst>
                    <a:ext uri="{DAF060AB-1E55-43B9-8AAB-6FB025537F2F}">
                      <wpsdc:hlinkClr xmlns:wpsdc="http://www.wps.cn/officeDocument/2017/drawingmlCustomData" val="0070C0"/>
                      <wpsdc:folHlinkClr xmlns:wpsdc="http://www.wps.cn/officeDocument/2017/drawingmlCustomData" val="996600"/>
                      <wpsdc:hlinkUnderline xmlns:wpsdc="http://www.wps.cn/officeDocument/2017/drawingmlCustomData" val="1"/>
                    </a:ext>
                  </a:extLst>
                </a:hlinkClick>
              </a:rPr>
              <a:t>https://drive.google.com/drive/folders/1AB45vN-2pSh6lZ1atUp2WsrRTpFOBgLc?usp=drive_link</a:t>
            </a:r>
            <a:endParaRPr lang="en-US" altLang="en-US" sz="2800"/>
          </a:p>
          <a:p>
            <a:pPr marL="0" indent="0">
              <a:buNone/>
            </a:pPr>
            <a:endParaRPr lang="en-US" altLang="en-US"/>
          </a:p>
          <a:p>
            <a:r>
              <a:rPr lang="en-US" altLang="en-US"/>
              <a:t>Datasets - </a:t>
            </a:r>
            <a:r>
              <a:rPr lang="en-US" altLang="en-US" sz="2800">
                <a:hlinkClick r:id="rId2" action="ppaction://hlinkfile"/>
              </a:rPr>
              <a:t>https://drive.google.com/drive/folders/1mmxgxl8Myc00fKl7i-f1vGUVHDZ5voup?usp=drive_link</a:t>
            </a:r>
            <a:endParaRPr lang="en-US" altLang="en-US" sz="2800">
              <a:hlinkClick r:id="rId2" action="ppaction://hlinkfile"/>
            </a:endParaRPr>
          </a:p>
          <a:p>
            <a:pPr marL="0" indent="0">
              <a:buNone/>
            </a:pPr>
            <a:endParaRPr lang="en-US" altLang="en-US" sz="2800"/>
          </a:p>
          <a:p>
            <a:r>
              <a:rPr lang="en-US" altLang="en-US"/>
              <a:t>Notebooks - </a:t>
            </a:r>
            <a:r>
              <a:rPr lang="en-US" altLang="en-US" sz="2800">
                <a:hlinkClick r:id="rId3" action="ppaction://hlinkfile"/>
              </a:rPr>
              <a:t>https://drive.google.com/drive/folders/1YrxRwi459zrME5dLAglCm4SXqSA7e1TY?usp=drive_link</a:t>
            </a:r>
            <a:endParaRPr lang="en-US" altLang="en-US" sz="2800">
              <a:hlinkClick r:id="rId3" action="ppaction://hlinkfil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438785" y="1701800"/>
            <a:ext cx="11149965" cy="1082675"/>
          </a:xfrm>
        </p:spPr>
        <p:txBody>
          <a:bodyPr/>
          <a:p>
            <a:r>
              <a:rPr lang="en-US" altLang="en-US" sz="3200" b="1"/>
              <a:t>                                       Q&amp;A</a:t>
            </a:r>
            <a:endParaRPr lang="en-US" altLang="en-US" sz="3200" b="1"/>
          </a:p>
        </p:txBody>
      </p:sp>
      <p:sp>
        <p:nvSpPr>
          <p:cNvPr id="5" name="Subtitle 2"/>
          <p:cNvSpPr>
            <a:spLocks noGrp="1"/>
          </p:cNvSpPr>
          <p:nvPr/>
        </p:nvSpPr>
        <p:spPr>
          <a:xfrm>
            <a:off x="2063750" y="2927350"/>
            <a:ext cx="4630420" cy="1752600"/>
          </a:xfrm>
          <a:prstGeom prst="rect">
            <a:avLst/>
          </a:prstGeom>
          <a:noFill/>
          <a:ln w="9525">
            <a:noFill/>
          </a:ln>
        </p:spPr>
        <p:txBody>
          <a:bodyPr/>
          <a:lstStyle>
            <a:lvl1pPr marL="0" indent="0" algn="r" rtl="0" fontAlgn="base">
              <a:spcBef>
                <a:spcPct val="20000"/>
              </a:spcBef>
              <a:spcAft>
                <a:spcPct val="0"/>
              </a:spcAft>
              <a:buFontTx/>
              <a:buNone/>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4000"/>
              <a:t>Thank You</a:t>
            </a:r>
            <a:endParaRPr lang="en-US" altLang="en-US" sz="4000"/>
          </a:p>
        </p:txBody>
      </p:sp>
    </p:spTree>
  </p:cSld>
  <p:clrMapOvr>
    <a:masterClrMapping/>
  </p:clrMapOvr>
</p:sld>
</file>

<file path=ppt/tags/tag1.xml><?xml version="1.0" encoding="utf-8"?>
<p:tagLst xmlns:p="http://schemas.openxmlformats.org/presentationml/2006/main">
  <p:tag name="TABLE_ENDDRAG_ORIGIN_RECT" val="864*191"/>
  <p:tag name="TABLE_ENDDRAG_RECT" val="48*92*864*191"/>
</p:tagLst>
</file>

<file path=ppt/theme/theme1.xml><?xml version="1.0" encoding="utf-8"?>
<a:theme xmlns:a="http://schemas.openxmlformats.org/drawingml/2006/main" name="Gear Drives">
  <a:themeElements>
    <a:clrScheme name="">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0070C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5166</Words>
  <Application>WPS Presentation</Application>
  <PresentationFormat>Widescreen</PresentationFormat>
  <Paragraphs>150</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Wingdings</vt:lpstr>
      <vt:lpstr>Microsoft YaHei</vt:lpstr>
      <vt:lpstr>Arial Unicode MS</vt:lpstr>
      <vt:lpstr>Calibri</vt:lpstr>
      <vt:lpstr>Gear Drives</vt:lpstr>
      <vt:lpstr>Predictive Maintenance for Aircraft Engines -  Hybrid Model</vt:lpstr>
      <vt:lpstr>Problem Statment</vt:lpstr>
      <vt:lpstr>The Challenge — Cost of Unscheduled Downtime</vt:lpstr>
      <vt:lpstr>Our Solution: AI-Powered Remaining Useful Life (RUL) Prediction</vt:lpstr>
      <vt:lpstr>Model Exploration &amp; Selection Journey</vt:lpstr>
      <vt:lpstr>PowerPoint 演示文稿</vt:lpstr>
      <vt:lpstr> Technology Stack</vt:lpstr>
      <vt:lpstr>Understanding the Engine Data: Key Sensors</vt:lpstr>
      <vt:lpstr>Prediction Based Model Results &amp; Evaluation – Hybrid Approach</vt:lpstr>
      <vt:lpstr>Model Evaluation</vt:lpstr>
      <vt:lpstr>PowerPoint 演示文稿</vt:lpstr>
      <vt:lpstr>Business Impact &amp; Value Proposition</vt:lpstr>
      <vt:lpstr>Conclusion</vt:lpstr>
      <vt:lpstr>References</vt:lpstr>
      <vt:lpstr>                                       Q&amp;A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akasar</dc:creator>
  <cp:lastModifiedBy>Sayali Jadhav</cp:lastModifiedBy>
  <cp:revision>40</cp:revision>
  <dcterms:created xsi:type="dcterms:W3CDTF">2025-07-23T00:59:00Z</dcterms:created>
  <dcterms:modified xsi:type="dcterms:W3CDTF">2025-12-11T11:57:47Z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860749BA4D424D2F82B3868F75B51CD6_11</vt:lpwstr>
  </property>
  <property fmtid="{D5CDD505-2E9C-101B-9397-08002B2CF9AE}" pid="3" name="KSOProductBuildVer">
    <vt:lpwstr>1033-12.2.0.23155</vt:lpwstr>
  </property>
</Properties>
</file>